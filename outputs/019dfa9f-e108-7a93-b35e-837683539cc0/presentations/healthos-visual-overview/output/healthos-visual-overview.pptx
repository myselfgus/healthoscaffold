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b7394d33e0415c" /><Relationship Type="http://schemas.openxmlformats.org/officeDocument/2006/relationships/extended-properties" Target="/docProps/app.xml" Id="R1b4d5dd527314512" /><Relationship Type="http://schemas.openxmlformats.org/officeDocument/2006/relationships/officeDocument" Target="/ppt/presentation.xml" Id="R08cbb8220fec4f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d2da67a4c04cb3"/>
  </p:sldMasterIdLst>
  <p:notesMasterIdLst>
    <p:notesMasterId xmlns:r="http://schemas.openxmlformats.org/officeDocument/2006/relationships" r:id="Rbccbf047459c46d8"/>
  </p:notesMasterIdLst>
  <p:sldIdLst>
    <p:sldId xmlns:r="http://schemas.openxmlformats.org/officeDocument/2006/relationships" id="256" r:id="Rbbd657fe1ad04fed"/>
    <p:sldId xmlns:r="http://schemas.openxmlformats.org/officeDocument/2006/relationships" id="257" r:id="R147c5959f4a94b78"/>
    <p:sldId xmlns:r="http://schemas.openxmlformats.org/officeDocument/2006/relationships" id="258" r:id="R4873a453814649b6"/>
    <p:sldId xmlns:r="http://schemas.openxmlformats.org/officeDocument/2006/relationships" id="259" r:id="Rddc5ae90399c4d62"/>
    <p:sldId xmlns:r="http://schemas.openxmlformats.org/officeDocument/2006/relationships" id="260" r:id="R4544b227a658437f"/>
    <p:sldId xmlns:r="http://schemas.openxmlformats.org/officeDocument/2006/relationships" id="261" r:id="R6b54ab5bff564020"/>
    <p:sldId xmlns:r="http://schemas.openxmlformats.org/officeDocument/2006/relationships" id="262" r:id="Rfb5e7f5af575453f"/>
    <p:sldId xmlns:r="http://schemas.openxmlformats.org/officeDocument/2006/relationships" id="263" r:id="R813a670db44a4231"/>
    <p:sldId xmlns:r="http://schemas.openxmlformats.org/officeDocument/2006/relationships" id="264" r:id="Ra285954e021045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2da67a4c04cb3" /><Relationship Type="http://schemas.openxmlformats.org/officeDocument/2006/relationships/theme" Target="/ppt/theme/theme1.xml" Id="Rc9cb5c7887e241f6" /><Relationship Type="http://schemas.openxmlformats.org/officeDocument/2006/relationships/notesMaster" Target="/ppt/notesMasters/notesMaster1.xml" Id="Rbccbf047459c46d8" /><Relationship Type="http://schemas.openxmlformats.org/officeDocument/2006/relationships/presProps" Target="/ppt/presProps.xml" Id="R87d5af77f7444f33" /><Relationship Type="http://schemas.openxmlformats.org/officeDocument/2006/relationships/viewProps" Target="/ppt/viewProps.xml" Id="Rf5fafafd48a240fa" /><Relationship Type="http://schemas.openxmlformats.org/officeDocument/2006/relationships/tableStyles" Target="/ppt/tableStyles.xml" Id="Rc6609f9e63cc4c65" /><Relationship Type="http://schemas.openxmlformats.org/officeDocument/2006/relationships/slide" Target="/ppt/slides/slide1.xml" Id="Rbbd657fe1ad04fed" /><Relationship Type="http://schemas.openxmlformats.org/officeDocument/2006/relationships/slide" Target="/ppt/slides/slide2.xml" Id="R147c5959f4a94b78" /><Relationship Type="http://schemas.openxmlformats.org/officeDocument/2006/relationships/slide" Target="/ppt/slides/slide3.xml" Id="R4873a453814649b6" /><Relationship Type="http://schemas.openxmlformats.org/officeDocument/2006/relationships/slide" Target="/ppt/slides/slide4.xml" Id="Rddc5ae90399c4d62" /><Relationship Type="http://schemas.openxmlformats.org/officeDocument/2006/relationships/slide" Target="/ppt/slides/slide5.xml" Id="R4544b227a658437f" /><Relationship Type="http://schemas.openxmlformats.org/officeDocument/2006/relationships/slide" Target="/ppt/slides/slide6.xml" Id="R6b54ab5bff564020" /><Relationship Type="http://schemas.openxmlformats.org/officeDocument/2006/relationships/slide" Target="/ppt/slides/slide7.xml" Id="Rfb5e7f5af575453f" /><Relationship Type="http://schemas.openxmlformats.org/officeDocument/2006/relationships/slide" Target="/ppt/slides/slide8.xml" Id="R813a670db44a4231" /><Relationship Type="http://schemas.openxmlformats.org/officeDocument/2006/relationships/slide" Target="/ppt/slides/slide9.xml" Id="Ra285954e021045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1f5247e8be14e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355b3b92ff4544" /><Relationship Type="http://schemas.openxmlformats.org/officeDocument/2006/relationships/notesMaster" Target="/ppt/notesMasters/notesMaster1.xml" Id="Rd40effb98f4b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cff013fb5b4a8a" /><Relationship Type="http://schemas.openxmlformats.org/officeDocument/2006/relationships/notesMaster" Target="/ppt/notesMasters/notesMaster1.xml" Id="R5bffcf841bec4e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bbe89d42f24370" /><Relationship Type="http://schemas.openxmlformats.org/officeDocument/2006/relationships/notesMaster" Target="/ppt/notesMasters/notesMaster1.xml" Id="R4561c7d961624a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6f70ff5f164c7c" /><Relationship Type="http://schemas.openxmlformats.org/officeDocument/2006/relationships/notesMaster" Target="/ppt/notesMasters/notesMaster1.xml" Id="R6961fce5a21442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723d1f57844f22" /><Relationship Type="http://schemas.openxmlformats.org/officeDocument/2006/relationships/notesMaster" Target="/ppt/notesMasters/notesMaster1.xml" Id="Red37ae20078c48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f60a887bd24fa5" /><Relationship Type="http://schemas.openxmlformats.org/officeDocument/2006/relationships/notesMaster" Target="/ppt/notesMasters/notesMaster1.xml" Id="R108d3854369a41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1b333e7582461a" /><Relationship Type="http://schemas.openxmlformats.org/officeDocument/2006/relationships/notesMaster" Target="/ppt/notesMasters/notesMaster1.xml" Id="R97eb965dce7a46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2b8f47a57443af" /><Relationship Type="http://schemas.openxmlformats.org/officeDocument/2006/relationships/notesMaster" Target="/ppt/notesMasters/notesMaster1.xml" Id="Rc9cf238b9e0c4b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6797a463954b12" /><Relationship Type="http://schemas.openxmlformats.org/officeDocument/2006/relationships/notesMaster" Target="/ppt/notesMasters/notesMaster1.xml" Id="R485e9a2865f146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445d35596405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e1bee8305f34fc5" /><Relationship Type="http://schemas.openxmlformats.org/officeDocument/2006/relationships/slideLayout" Target="/ppt/slideLayouts/slideLayout2.xml" Id="Rea8583d02d4b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8583d02d4b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cdf1f8c14640c7" /><Relationship Type="http://schemas.openxmlformats.org/officeDocument/2006/relationships/notesSlide" Target="/ppt/notesSlides/notesSlide1.xml" Id="Rf5ae467e938a4f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1abb96065c454c" /><Relationship Type="http://schemas.openxmlformats.org/officeDocument/2006/relationships/notesSlide" Target="/ppt/notesSlides/notesSlide2.xml" Id="R163ef813a1184a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b4e2013d14f24" /><Relationship Type="http://schemas.openxmlformats.org/officeDocument/2006/relationships/notesSlide" Target="/ppt/notesSlides/notesSlide3.xml" Id="Rc864537b55ec47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226c287be44aa1" /><Relationship Type="http://schemas.openxmlformats.org/officeDocument/2006/relationships/notesSlide" Target="/ppt/notesSlides/notesSlide4.xml" Id="R1051a6570abb47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6f530c3f9b464d" /><Relationship Type="http://schemas.openxmlformats.org/officeDocument/2006/relationships/notesSlide" Target="/ppt/notesSlides/notesSlide5.xml" Id="Rc1876f05fb5b42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300f7b880c4cca" /><Relationship Type="http://schemas.openxmlformats.org/officeDocument/2006/relationships/notesSlide" Target="/ppt/notesSlides/notesSlide6.xml" Id="Raf15505915b245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df5151a8ef4e79" /><Relationship Type="http://schemas.openxmlformats.org/officeDocument/2006/relationships/notesSlide" Target="/ppt/notesSlides/notesSlide7.xml" Id="R3f25ae6adea14d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371491cd5a44b2" /><Relationship Type="http://schemas.openxmlformats.org/officeDocument/2006/relationships/notesSlide" Target="/ppt/notesSlides/notesSlide8.xml" Id="R4bb9cdb59c704e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54ac1300e14d00" /><Relationship Type="http://schemas.openxmlformats.org/officeDocument/2006/relationships/notesSlide" Target="/ppt/notesSlides/notesSlide9.xml" Id="R0061c7b6750347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51AC3-0719-48C4-B5B6-59CAD9AC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821E9-2D8C-4157-9345-86B9AF2D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C36AB-97AC-4808-BCA5-5302A1F4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9B626-35E5-4B82-B886-74B3EF5A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409575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HealthOS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08030-6FED-4BC9-A34D-121B67D7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5143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A governed platform, not an app 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255CC-3552-4525-8095-66DD9911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5286375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HealthOScaffold is the historical repository name and foundation phase. The architecture, contracts, runtimes, apps, tests, and docs here are HealthOS work at explicit scaffold maturity.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5F96F-5332-42C5-8432-0934B9E2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F0"/>
          </a:solidFill>
          <a:ln xmlns:a="http://schemas.openxmlformats.org/drawingml/2006/main" w="9525">
            <a:solidFill>
              <a:srgbClr val="C241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14FF8-B603-4894-8EE3-03A487DB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6954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6B"/>
                </a:solidFill>
                <a:latin typeface="Aptos"/>
                <a:ea typeface="Aptos"/>
                <a:cs typeface="Aptos"/>
              </a:rPr>
              <a:t>NOT PRODUCTION-READY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89851-AF30-4AF8-B143-2C48F5B6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004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4"/>
          </a:solidFill>
          <a:ln xmlns:a="http://schemas.openxmlformats.org/drawingml/2006/main" w="9525">
            <a:solidFill>
              <a:srgbClr val="6B72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E1D3C-37AE-4B70-8EF2-25ACF263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67125"/>
            <a:ext cx="12573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NOT A FULL EHR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9D340-F75E-400C-AF0D-F6096BD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004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30973-9058-4476-94FE-3AFDABC2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67125"/>
            <a:ext cx="1428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NO FINAL UI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6C269-91CA-46B7-8AF7-1E9DFB0D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287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1D7A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98E9A-FEC8-4DE6-9A97-BD9ED543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171575"/>
            <a:ext cx="2952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Core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96EE6-8F33-4CE8-B38F-61BC1B15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621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B2BA7-1316-4159-80B5-DD6A5690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CDC3F-93F1-4C35-B80B-F13C270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9775"/>
            <a:ext cx="2952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GOS mediation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400E9-A649-48D8-94B1-76F67738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A2C7A-6D89-4D1B-A02F-9657EE6C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9525">
            <a:solidFill>
              <a:srgbClr val="2563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3857E-90E7-4DFC-BCF3-A0654C79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47975"/>
            <a:ext cx="2952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Runtimes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9C7F7-8716-4547-BCB9-2D7FFAF3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385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3F5DA-A574-4977-8622-462A59D8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D3C7A-6D91-4829-936F-5B3FBD2C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86175"/>
            <a:ext cx="2952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Apps/interfaces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460B43-1DA2-4399-801F-CB5FE082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767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4201E-D7AD-466B-88F3-5F528412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9EABD-DDA4-487C-B39B-AFB12230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24375"/>
            <a:ext cx="2952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Artifacts/effects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469303-7FC7-42DA-A3CD-314374DB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81650"/>
            <a:ext cx="352425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4"/>
                </a:solidFill>
                <a:latin typeface="Aptos"/>
                <a:ea typeface="Aptos"/>
                <a:cs typeface="Aptos"/>
              </a:rPr>
              <a:t>Clinical effectuation remains gated; construction tooling remains outside this hierarchy.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C9858-5158-4415-BBC2-B0B62C11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635D2-C2A6-428A-9401-054540B7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382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HealthOS scaffold/foundation maturity. No production, full EHR, provider, signature, interoperability, or final UI claim.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EAD945-03A1-459A-ABCD-BB3AD4E6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88824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5E4FE-4237-4474-851F-EEA8CD4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1FB60-3971-4E8E-819B-B04F209B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ARCHITECTURE BY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6517C-16B6-4037-8E2C-1F80B702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096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platform is legible only when law, mediation, runtimes, apps, and artifacts stay separated.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D5376-38F8-4F35-A0C1-3C3454E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14288">
            <a:solidFill>
              <a:srgbClr val="1D7A5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C3F16-51A1-4247-9995-3F3E079B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0225"/>
            <a:ext cx="17145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21AB8-7AF7-4754-A33D-F476F593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62546-366A-4E29-8CE2-C1E4D86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6191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consent · habilitation · gate · finality · provenance · storage law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58093-73E5-43B3-B047-3DF35F8E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907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47C41-F405-4D7C-BF58-49C417EA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14288">
            <a:solidFill>
              <a:srgbClr val="B779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C835C-8EF0-49AB-98D4-7CB75B2D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81275"/>
            <a:ext cx="17145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GOS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AF865-8870-4884-9ED7-C27D086C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3840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FFC34-E312-41D0-92E7-92EA7222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6191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compiled operational spec; subordinate mediation; lifecycle reviewed/active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F36BC-A2C5-4B72-ADDC-D2359F0D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7180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5AF3A-B749-4E24-ADB5-62416DFB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14288">
            <a:solidFill>
              <a:srgbClr val="2563A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35DA1-121F-4CF2-937B-B700B82B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17145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Runtimes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B8934-A317-4E53-B587-674F77C8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BE955-30C0-4486-A43F-B45370FD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71850"/>
            <a:ext cx="6191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Session Runtime · AACI · MSR · Async · User-Agent · Service 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774FA-322E-4C38-850A-470F31BE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528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950A8-7D48-4C34-BB23-2B0D6AF3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FF"/>
          </a:solidFill>
          <a:ln xmlns:a="http://schemas.openxmlformats.org/drawingml/2006/main" w="14288">
            <a:solidFill>
              <a:srgbClr val="7C3AE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C43EB-844A-4B82-9E0F-6E6FA4DF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17145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Apps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78717-C391-41C7-B819-9A67F6FD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0050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70A31-A73A-4E65-813F-DE92BD9E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52900"/>
            <a:ext cx="6191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Scribe · Veridia · CloudClinic consume mediated app-safe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AF961-9B83-4F67-B4A9-BCAEA7C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3390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3622B-1200-43BF-A028-9E4FF640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20AAE-8A79-4141-B7AB-EC620E1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24425"/>
            <a:ext cx="17145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730F7-A02A-4502-B17B-A0E1832B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8155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2950F3-52E2-456E-A437-B670174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33950"/>
            <a:ext cx="6191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transcripts · drafts · derived artifacts · final SOAP only after approved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EF643-2882-4284-BBE3-2AF9C951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7810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Proof object: canonical hierarchy repeated in README, overview, GOS, interface doctrine, and invariant matrix.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14F617-6671-4647-9A11-110FEA6D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95CFA1-CC7C-4DF0-A59D-D0D04FEE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382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HealthOS scaffold/foundation maturity. No production, full EHR, provider, signature, interoperability, or final UI claim.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532BE-7AB2-45C7-A029-65BD8F7B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30497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D4D8C-82EB-4A1B-AE36-2F182C29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2687A-C885-49E0-B345-6656FEA2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FIRST-SLICE EXECUTION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0C908-6F18-4F26-99F1-0F6DA37F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096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executable proof is a governed sequence: validate, capture, draft, gate, then finalize only when approved.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13995-2F91-4431-A74F-90CF9BA9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1D7A5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B53E2-A10D-47AA-AE19-A68613A6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Habilitation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02B2C-AEFF-436D-94A1-F5924007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09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1D7A5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52B7A-FCC9-4110-A158-D0C37431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431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059BE-C482-4399-A18B-CB94FB9A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9525">
            <a:solidFill>
              <a:srgbClr val="2563A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34B16-8DE4-4110-B675-1D2823CE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9431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Session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C07CC-6F74-40E1-A2F1-9249F2D8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9525">
            <a:solidFill>
              <a:srgbClr val="2563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A5C18-44C8-48E2-9223-0C9087B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431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Capture +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32818-6059-401B-8FD8-6301B7D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37B73-689B-4D67-B212-65DE6DCD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431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Normalization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831FE-2E5E-4499-BA5B-7120D55D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55653-F5DE-44B1-B911-90239DBD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431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MSR derived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11A77-C0FD-40A7-99A0-6CC68F4E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861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21BEC-BEA6-4EAA-8E30-BC09A352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6195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SOAP draft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3C637-3A10-4647-8E13-959B2E74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A90F5-527B-4E26-BE11-E701446F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195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Referral / Rx drafts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477FD-169A-4260-B3E7-FC11D340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F0"/>
          </a:solidFill>
          <a:ln xmlns:a="http://schemas.openxmlformats.org/drawingml/2006/main" w="9525">
            <a:solidFill>
              <a:srgbClr val="C241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78F21-5A93-4FC1-8834-86F8525D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4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416B"/>
                </a:solidFill>
                <a:latin typeface="Aptos"/>
                <a:ea typeface="Aptos"/>
                <a:cs typeface="Aptos"/>
              </a:rPr>
              <a:t>Gate request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72241-AE4B-4B30-90D4-42FB54F9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F0"/>
          </a:solidFill>
          <a:ln xmlns:a="http://schemas.openxmlformats.org/drawingml/2006/main" w="9525">
            <a:solidFill>
              <a:srgbClr val="C241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80A9E-FFA5-4353-BFA7-D2DAEF63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195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4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2416B"/>
                </a:solidFill>
                <a:latin typeface="Aptos"/>
                <a:ea typeface="Aptos"/>
                <a:cs typeface="Aptos"/>
              </a:rPr>
              <a:t>Gate resolve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8F75B-9A37-450E-B512-0E20203F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861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1D7A5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99104-8DD2-4D96-8725-E6D3BC58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61950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Final SOAP if approved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13798-7D3F-44F3-85A1-232CB0A7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431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18E11-3524-4A18-926F-5A5B29A6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E8406-065B-4271-B508-E60F7540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6C7A2F-55C2-4B72-9DB4-E9BD9A07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80CA8-76DF-4AC6-AAE2-568AFD2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431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DD122E-C20D-46F8-B69B-2AEDEAAB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434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D2B85-251A-4D76-B37E-5B2EB481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95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5CE9A-239C-4B16-895F-6BC00AF0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95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EC6E3E-8776-49E3-A066-E6998EB2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195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81F226-3E2D-45AB-BA7C-A689B54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195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6DE156-04F1-49ED-8D80-C0217FDA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8953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Rejected gate path withholds final document; derived referral/prescription outputs stay draft-only and non-effective.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77F546-C843-44F6-A5D5-B03D719C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E8A748-99E6-4F0D-AE53-E7475B12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382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HealthOS scaffold/foundation maturity. No production, full EHR, provider, signature, interoperability, or final UI claim.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D4F7D6-4E1C-4818-ABF5-EE40658F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6818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A70A78-E185-4D9A-A47D-D3E95306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50ECA-3670-4D22-A9DF-D2CFCC22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BOUNDARY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97381-9A2C-45CD-8B04-9E4C5785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096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GOS can shape operational work; it cannot make lawful what Core has not authorized.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55060-C1AA-4FE9-AA2C-064FD941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14288">
            <a:solidFill>
              <a:srgbClr val="1D7A5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737F1-C717-4F0B-95FF-FB94E0B6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1336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SOVEREIGN LAW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4FFC9-72D3-4F2C-9022-7DE358B6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954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14288">
            <a:solidFill>
              <a:srgbClr val="B7791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AF153-DB6F-4615-A969-3F4C24E6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28800"/>
            <a:ext cx="21336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OPERATIONAL MEDIATION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19EA1-C165-4AE2-A94C-D5A57CE6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14288">
            <a:solidFill>
              <a:srgbClr val="2563A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55BB5-5736-440E-9CCC-47D0F7D6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21336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RUNTIME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3D9BB-4326-4198-9E23-FDB07F2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190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FF"/>
          </a:solidFill>
          <a:ln xmlns:a="http://schemas.openxmlformats.org/drawingml/2006/main" w="14288">
            <a:solidFill>
              <a:srgbClr val="7C3A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54761-91D6-43C5-A989-8AD8C219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18478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APP SURFACE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1193F-66BA-4761-85A2-3A729032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952625" cy="1714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Consent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Habilitation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Finality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Storage law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57822-738C-487F-A917-C3434F80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05050"/>
            <a:ext cx="1952625" cy="1714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Signals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Slots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Derivations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Draft outputs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Evidence hooks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DCBED-19DE-42DE-B87C-999FB909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1952625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SessionRunner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AACI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MSR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Async jobs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Provider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03D2D-FA1A-4D38-AEFE-E1AD32D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05050"/>
            <a:ext cx="1666875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Scribe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Veridia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CloudClinic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CLI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Operator 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1A7F2-BB1D-4C6C-AB63-96BE8169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3D266-559F-48CB-9FC9-3D47BB46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908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E6A26-A769-471E-A081-38DE13B5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908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7BC85-CE5F-4894-A50F-69B18B9E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8953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Boundary invariant: apps do not interpret raw GOS spec JSON and runtimes do not bypass Core checks.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849C2-4A81-4638-9A5A-4DEBC91B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C7B36-ACB1-4AF4-8D12-FF347616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382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HealthOS scaffold/foundation maturity. No production, full EHR, provider, signature, interoperability, or final UI claim.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8A6B5-3584-4D63-8917-9113E208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17727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811BC0-DED6-40D0-B00F-DF8D6D7B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50CC8-9C0A-4174-85AA-101A8525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CONTRACT FABRIC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07A67-B038-44E9-A15C-8DBEEDCC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096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HealthOS stays coherent because docs, schemas, Swift, TypeScript, and SQL move together when contracts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C6E29-003B-4F79-A50A-7162B804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BBF04-C639-4C74-9326-E28222A6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22479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Canonical doctrine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 +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26855-ECCE-4B42-9E7C-8F55E948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9525">
            <a:solidFill>
              <a:srgbClr val="2563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DEB79-BF76-481C-9E46-4E073F84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24003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Swift</a:t>
            </a:r>
          </a:p>
          <a:p xmlns:a="http://schemas.openxmlformats.org/drawingml/2006/main">
            <a:pPr algn="ctr">
              <a:defRPr sz="1200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Core · SessionRuntime · AACI · MSR · apps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4173B-6E4B-407C-B595-17945C64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D44FF-22D8-4B0B-A53B-3F920A38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71650"/>
            <a:ext cx="24003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TypeScript</a:t>
            </a:r>
          </a:p>
          <a:p xmlns:a="http://schemas.openxmlformats.org/drawingml/2006/main">
            <a:pPr algn="ctr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contracts · runtimes · GOS · Steward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D15C6-C8CD-47DE-B729-F9E8FC7B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1D7A5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11C87-B109-488B-974C-0096C866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05350"/>
            <a:ext cx="24003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JSON Schema</a:t>
            </a:r>
          </a:p>
          <a:p xmlns:a="http://schemas.openxmlformats.org/drawingml/2006/main">
            <a:pPr algn="ctr">
              <a:defRPr sz="1200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entity + GOS contracts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15252-433D-4DDD-A93A-60091713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148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F0"/>
          </a:solidFill>
          <a:ln xmlns:a="http://schemas.openxmlformats.org/drawingml/2006/main" w="9525">
            <a:solidFill>
              <a:srgbClr val="C241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4E2CA-6407-477A-8A59-4CDCB20D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05350"/>
            <a:ext cx="24003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416B"/>
                </a:solidFill>
                <a:latin typeface="Aptos"/>
                <a:ea typeface="Aptos"/>
                <a:cs typeface="Aptos"/>
              </a:rPr>
              <a:t>SQL</a:t>
            </a:r>
          </a:p>
          <a:p xmlns:a="http://schemas.openxmlformats.org/drawingml/2006/main">
            <a:pPr algn="ctr">
              <a:defRPr sz="1200" b="1">
                <a:solidFill>
                  <a:srgbClr val="C241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416B"/>
                </a:solidFill>
                <a:latin typeface="Aptos"/>
                <a:ea typeface="Aptos"/>
                <a:cs typeface="Aptos"/>
              </a:rPr>
              <a:t>metadata shape scaffold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C2A7B-6266-468C-8466-A1282A17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13B37-AF15-42CE-8AA8-5AE3A70F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85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A55FA-3BDF-4503-982C-02DB568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285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FFB73-7A88-4436-A74D-E82E34DC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285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37237-63CF-4735-8F2B-FFD0B567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24550"/>
            <a:ext cx="8572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Rule: ontology or contract changes require same-work-unit alignment across relevant mirrors.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4C18E-4E73-4CC3-B62F-96D088C8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6FB8F-2BDA-48D9-9AF7-F2B55977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382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HealthOS scaffold/foundation maturity. No production, full EHR, provider, signature, interoperability, or final UI claim.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B1D78-2337-45A6-BDED-215FA1C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25255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C88CB-DA71-4ECE-976A-B3853AB4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34A9D-B60F-4DA3-B8A3-A5787133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CONSTRUCTION TOOLING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D7732-8C7B-4773-99AD-5EA08C01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096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Steward and HealthOS Forge MCP improve repository work; they do not enter the clinical/runtime hierarchy.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5128D-EA93-46FC-9212-52EA39E4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7A5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7AD53-F179-4E16-92BD-FC50A73F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371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HealthOS clinical/runtime hierarchy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90113-4438-4EB7-98C1-ABDB4B3A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28900"/>
            <a:ext cx="3333750" cy="1619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GOS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Session Runtime / AACI / MSR / TS runtimes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Apps/interfaces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Artifacts/effects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60C58-55DF-41E1-BA46-A3ED2368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F0"/>
          </a:solidFill>
          <a:ln xmlns:a="http://schemas.openxmlformats.org/drawingml/2006/main" w="19050">
            <a:solidFill>
              <a:srgbClr val="C241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00963-73B4-442C-B205-9846D9C8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14550"/>
            <a:ext cx="3714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6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2416B"/>
                </a:solidFill>
                <a:latin typeface="Aptos"/>
                <a:ea typeface="Aptos"/>
                <a:cs typeface="Aptos"/>
              </a:rPr>
              <a:t>Repository engineering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CE44A-42B0-457A-8762-0398A863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3381375" cy="1381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Steward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Settlers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Territories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Settlements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healthos-forge-mcp steward_*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8FCDE-8A82-499E-9AAC-6E08D51C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9550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059F4-EEA5-42B2-9DDA-9EFEA38C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8763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outside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9E082-07A9-4170-B02C-97F3795E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93345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clinical authority · no Core law authority · no merge authority · no production 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C2E80-310D-4451-A539-16A669B1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79733-DDED-47DF-9FA5-38FC272F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382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HealthOS scaffold/foundation maturity. No production, full EHR, provider, signature, interoperability, or final UI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AD621-A5CD-4058-8C65-EB351488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36596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7B693-4E89-47A2-B6DD-3528C24E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95377-7F1F-4079-A622-E11A01E0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MATURITY SNAPSHOT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46F02-6EAD-435B-91D7-5211357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096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right read is not done/not done; it is layer maturity with explicit evidence and gaps.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EC913-E0B2-4173-96F2-459B1071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9525">
            <a:solidFill>
              <a:srgbClr val="1D7A5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FB14E-30DF-495B-9741-E95CC2D3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7A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7A5C"/>
                </a:solidFill>
                <a:latin typeface="Aptos"/>
                <a:ea typeface="Aptos"/>
                <a:cs typeface="Aptos"/>
              </a:rPr>
              <a:t>Tested operational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4B852-4729-40F2-B77C-37EFC9E9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12C05-0A36-4A37-B295-E32B2841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43075"/>
            <a:ext cx="6191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law · Data/storage · GOS · validation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3C714-B095-4714-95C4-5709F258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9525">
            <a:solidFill>
              <a:srgbClr val="2563A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65FE4-8178-4910-90A8-F00651F6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Implemented seam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DBC11-1E3E-455E-9702-7DF9A33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A280F-9001-4CD2-89D2-B054E391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86025"/>
            <a:ext cx="6191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AACI first slice · Async local runtime · Scribe minimal UI · construction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E5DA4-19A0-43DC-8F99-07737398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835ED-A384-4F15-B631-0DB337DD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Scaffolded 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E5BA9-D958-4760-88F6-3D5C5D47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F3675-9089-4855-AC71-1FB75D84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28975"/>
            <a:ext cx="6191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Providers/ML · MSR stages · User Agent/Veridia · Service Ops/CloudClinic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E3F16-F23F-454A-8588-5657063A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F0"/>
          </a:solidFill>
          <a:ln xmlns:a="http://schemas.openxmlformats.org/drawingml/2006/main" w="9525">
            <a:solidFill>
              <a:srgbClr val="C241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97D89-5534-4513-80CF-177F19A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2416B"/>
                </a:solidFill>
                <a:latin typeface="Aptos"/>
                <a:ea typeface="Aptos"/>
                <a:cs typeface="Aptos"/>
              </a:rPr>
              <a:t>Placeholder / doctrine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EFB45-236D-4BE6-833D-00BE4057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4E374-66B2-4F74-A381-411934A7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71925"/>
            <a:ext cx="6191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Veridia and CloudClinic final shells · HealthOS control panel · network fabric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FE068-8D10-405E-99A6-12A699E0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4"/>
          </a:solidFill>
          <a:ln xmlns:a="http://schemas.openxmlformats.org/drawingml/2006/main" w="9525">
            <a:solidFill>
              <a:srgbClr val="6B728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ECB2C-B3DC-4011-A629-2961CDF6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469DF-1D0B-4CD6-90AB-1E05E345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33847D-69D9-4EC7-B150-A0FB6B81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14875"/>
            <a:ext cx="6191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production-hardened status · complete EHR · real regulatory/signature/interoperability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A5B65-0A01-4DCC-8F95-692F4DE4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FFF882-5731-4DBB-9B05-8942AE7C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382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HealthOS scaffold/foundation maturity. No production, full EHR, provider, signature, interoperability, or final UI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0B0FD-5458-43FC-9C62-9EA652DA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7424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FB886-B5D9-453F-9A8B-1057FD9B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3179B-2C2B-412C-8E37-15D971A9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VALIDATION POSTURE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72E18-F8D2-4154-8D01-7005ED3C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096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repo proves local scaffold behavior through explicit gates, not through production certification.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D1008-1081-47A7-BE86-48127FB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DE81D-CE8C-4251-8F28-C89816BE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EBDDB-FA25-4189-82A1-77C3AABA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095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validate-docs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2F08C-123C-4299-BD81-4299D5BA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907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55BDA-8135-48AE-8571-50A5D976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0BFB7-DC77-4B64-ACBC-F80F1DB2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2095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validate-schemas</a:t>
            </a:r>
          </a:p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validate-contracts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C5062-0B0F-49CA-B28E-12EB0D4B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B6CA7-AF28-4C74-B37F-2E8BD031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Swift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E8315-D633-4B71-A32A-18CB1592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2095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swift-build</a:t>
            </a:r>
          </a:p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swift-test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2AF8A-72E3-431D-916D-FD88549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AB750-B385-4CE3-81EC-982AC51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TypeScript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26149-A15A-4845-93D4-65F47E7A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095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ts-build</a:t>
            </a:r>
          </a:p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ts-test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42E5D-CB6D-48E9-B126-0AD5E632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4335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C5701-669E-4208-A79B-201AE74C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2BC17-8B38-4C06-9264-250DEF52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2095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smoke-cli</a:t>
            </a:r>
          </a:p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smoke-scribe</a:t>
            </a:r>
          </a:p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smoke-veridia</a:t>
            </a:r>
          </a:p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make smoke-cloudclinic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47725-51AA-4534-A9D2-805FF9DD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15000"/>
            <a:ext cx="8858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Honest validation language: pass/fail commands are evidence for scaffold seams, not external regulatory qualification.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A7932-0D78-427A-A2D3-D90F8B68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82495-7BCD-4702-9924-2D2B9092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382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HealthOS scaffold/foundation maturity. No production, full EHR, provider, signature, interoperability, or final UI claim.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F6362-FF2F-4294-9A6A-6C5D89F4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96469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3C058D-B82F-4D24-B4E7-B4A02CCC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B60FA-19B4-4EB6-A244-51105252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RESIDUAL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9BCB2-3761-4F35-86C7-2ABB470B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096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next work is bounded hardening, not a declaration that the platform is product-final.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920A4-A531-4D06-8AFF-10E89AFF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38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0D0D4-C7FF-4E0C-B0EC-073C08B8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52600"/>
            <a:ext cx="1276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APP-012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3DE7A-CE3E-4567-A2FF-87266DFB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38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CE4B4-6810-4197-A062-FD4A271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90700"/>
            <a:ext cx="6762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CloudClinic smoke-testable executable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9A519-809E-42D3-A7B5-60F9E624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9525">
            <a:solidFill>
              <a:srgbClr val="2563A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EEF9C-BC96-45EC-9054-54FE7970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1276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A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2563A8"/>
                </a:solidFill>
                <a:latin typeface="Aptos"/>
                <a:ea typeface="Aptos"/>
                <a:cs typeface="Aptos"/>
              </a:rPr>
              <a:t>CI-001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E524B-E70C-4985-9C61-AA3C8E54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193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1ED6B-F93B-490B-BDE2-685636C4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71750"/>
            <a:ext cx="6762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GitHub Actions wiring for validate-all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C2FA1-8A91-448A-8777-4E0CC4F5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A09C6-5797-4E54-8ECA-C3E39BFA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1276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RT-ASYNC-001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967DC-62A6-44A6-8625-4739B549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38EEB-41AF-4C5B-BE00-5A62145F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6762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SQL-backed async executor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2C6C9-9FB3-4EC6-AF5F-1490FD26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F0"/>
          </a:solidFill>
          <a:ln xmlns:a="http://schemas.openxmlformats.org/drawingml/2006/main" w="9525">
            <a:solidFill>
              <a:srgbClr val="C241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16849-2C5F-4FD2-98EB-292C3957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276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C2416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C2416B"/>
                </a:solidFill>
                <a:latin typeface="Aptos"/>
                <a:ea typeface="Aptos"/>
                <a:cs typeface="Aptos"/>
              </a:rPr>
              <a:t>RT-RETRIEVAL-001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85D11-0B8C-42F3-803A-2CF94ED8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814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BBDC3-858F-48BB-B363-4652C6C6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6762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 embeddings / semantic retrieval provider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5086F-A268-400B-9441-575B06C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4"/>
          </a:solidFill>
          <a:ln xmlns:a="http://schemas.openxmlformats.org/drawingml/2006/main" w="9525">
            <a:solidFill>
              <a:srgbClr val="6B728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95C08-67E4-4C92-B00F-329357D4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1276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UI shells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1A504-D72E-4B0F-BA67-57D58F6A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A51E51-6CC4-4F79-9A5F-57EB53EF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14900"/>
            <a:ext cx="6762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Scribe, Veridia, CloudClinic, and control panel app shells remain future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CB947-ED6E-4B63-A142-84FB676F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53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Recommended next task after this documentation work: APP-012 or CI-001, depending on whether product wiring or validation infrastructure is the operator priority.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DC7F4-96C4-413D-B55B-25C81260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82C32-AEB2-4A4D-8D0A-1A9D7960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382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HealthOS scaffold/foundation maturity. No production, full EHR, provider, signature, interoperability, or final UI claim.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9164F-9233-4525-8A62-3D4071D5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6480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2026-05-06T00:19:57.7820000Z</dcterms:created>
  <dcterms:modified xsi:type="dcterms:W3CDTF">2026-05-06T00:19:57.7820000Z</dcterms:modified>
</coreProperties>
</file>